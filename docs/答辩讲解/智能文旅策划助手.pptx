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1.5 分钟：一句话定位（强类型数据合同 + 多 Agent 编排 + RAG），再讲痛点。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强调：难点不在「画出地图数据」，而在把异构脆弱数据收敛为强类型、可追溯、可降级的事实。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重点讲非交易边界：从模型层禁止未声明字段，杜绝交易信息混入结果。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分钟过一遍四大功能域，不需展开细节。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分钟讲完选型理由，重点回答「为什么不用 LLM 做事实」和「为什么不用 Agent 框架」。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的 Mermaid 源码：flowchart TB，前端/API/编排/Agent/基础设施/外部服务六个子图。讲分层职责。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的 Mermaid 源码：flowchart LR 状态判定。核心是状态机在每个边界被 model_validator 强制校验。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的 Mermaid 源码：flowchart TB 完整链路。重点演示降级传递路径。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逐个讲职责与输入输出，强调确定性、可核验。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4 的 Mermaid 源码：flowchart TB 入库链路 + 检索链路。重点讲城市硬过滤与双写一致性。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5 的 Mermaid 源码：flowchart TB。诚实交代局限，能增加可信度。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安全是六条线同时生效，不是单个开关。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强调可信交互原则：JSON 仅 API 消费者与测试使用，前端从不直接暴露供应商响应。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强调测试意图（规则 9）：测试验证为什么需要此行为。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分钟讲亮点，每条一句话 + 一句佐证。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承认局限 + 给出路径，比回避更稳妥。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自用时控参考，正式答辩可去掉本页。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备用页，评委问完再展开；答案在 Markdown / HTML 版题库。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收尾致谢，语速放慢。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</a:rPr>
              <a:t>智能文旅策划助手</a:t>
            </a:r>
          </a:p>
          <a:p>
            <a:r>
              <a:rPr sz="2000" b="0">
                <a:solidFill>
                  <a:srgbClr val="C9D4CD"/>
                </a:solidFill>
                <a:latin typeface="Microsoft YaHei"/>
              </a:rPr>
              <a:t>面向企业场景的只读式智能文旅行程规划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9D4CD"/>
                </a:solidFill>
                <a:latin typeface="Microsoft YaHei"/>
              </a:rPr>
              <a:t>答辩人：＿＿＿＿＿＿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9D4CD"/>
                </a:solidFill>
                <a:latin typeface="Microsoft YaHei"/>
              </a:rPr>
              <a:t>学号 / 班级：＿＿＿＿＿＿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9D4CD"/>
                </a:solidFill>
                <a:latin typeface="Microsoft YaHei"/>
              </a:rPr>
              <a:t>指导教师：＿＿＿＿＿＿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2A45C"/>
                </a:solidFill>
                <a:latin typeface="Microsoft YaHei"/>
              </a:rPr>
              <a:t>毕业设计答辩 · 讲解时长 10–15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01 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业务定位：面向企业内部的只读式行程建议服务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输入出发地/目的地/日期/人数/天数/预算/偏好 → 天气风险 + 逐日路线 + 住宿 + 餐饮 + 待核验事项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MVP 只给建议与核验提示，不执行预订、支付或交易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传统做法痛点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数据来源异构：和风天气 / 高德地图字段与语义各不相同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字段漂移：自由字典拼错或改名无人察觉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来源时间混淆：缓存与实时数据不加区分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上游错误泄露：原始异常透传给浏览器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降级状态不一致：局部失败时整体语义不统一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02 问题分析与核心挑战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数据源异构 —— 需统一为规范化领域模型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事实与表达分离 —— itinerary 是唯一事实载体，markdown 不能反推事实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上游脆弱性 —— 需要缓存 / 重试 / 熔断 / 降级组合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可追溯性 —— request_id / trace_id 与来源时间语义贯穿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内容可信 —— 模型只做判断与表达，事实由确定性代码负责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领域边界 —— 严禁价格 / 库存 / 评分 / 预订等交易字段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03 目标与范围（MVP 边界）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五个设计目标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强类型数据合同连接所有模块，杜绝字段漂移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request_id / trace_id 贯穿一次请求，便于问题定位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区分实时 / 缓存 / 降级数据，要求用户复核关键事实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同源双栏页面，供应商原始响应不进浏览器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服务端密钥 + 固定域名 + 超时重试熔断的最小安全边界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明确不接入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OTA、预订、支付、库存、实时价格、评分、订单链接（extra=forbid 直接拒绝）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04 功能模块总览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出行规划 —— 天气 → 路线 → 住宿 → 餐饮 → 汇总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文档知识库 RAG —— 上传解析 / 分块 / 向量化 / 混合检索可溯源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前端工作台 —— 规划表单 / 知识检索 / 文档库 / 数据看板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平台能力 —— 韧性三件套 / 追踪标识 / 安全响应头 / 通用错误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核心模块：api → orchestration → agents → services → models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强类型合同（models/travel.py）承载全部跨模块数据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05 技术栈选型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选型原则：事实性 / 确定性职责交给代码库，判断性 / 表达性才交给模型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FastAPI + Pydantic v2：extra=forbid 封闭字段，model_validator 跨字段约束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httpx.AsyncClient + respx：异步调用与同源 mock 测试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ChromaDB + BGE-small-zh-v1.5（本地）：嵌入式向量库，数据不出域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PyMuPDF / python-docx：本地解析；Qwen-VL：图表 OCR（仅提取文字）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DeepSeek：表达润色，客户端已封装、接入设计中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前端：原生 HTML/JS + 本地 vendor（marked + DOMPurify，SHA-256 校验）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为什么不引入 LangChain？—— 难点在数据合同与编排韧性，轻量编排器更确定、可测试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06 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97A2B"/>
                </a:solidFill>
                <a:latin typeface="Microsoft YaHei"/>
              </a:rPr>
              <a:t>📊 本页插入【图 1 · 系统总体架构】（Mermaid 源码见《答辩讲解.md》）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前端层 —— 同源静态页面，只调相对路径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API 层 —— FastAPI + 安全中间件：/api/travel-plans、/api/documents、/api/knowledge-search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编排层 —— SequentialTravelOrchestrator：天气→路线→住宿→餐饮→汇总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基础设施层 —— 缓存 / 重试 / 熔断 + DocumentStore + ChromaDB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外部服务 —— 和风天气 / 高德地图 / DeepSeek / Qwen-VL（服务端密钥）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关键决策：强类型合同贯穿 · 事实与表达分离 · 同源渲染 · 固定域名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07 强类型数据合同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TravelPlanRequest：去空白 / 日期≥今天 / 人数1-20 / 天数1-14 / 预算0-200000 / 偏好≤12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C97A2B"/>
                </a:solidFill>
                <a:latin typeface="Microsoft YaHei"/>
              </a:rPr>
              <a:t>📊 本页插入【图 2 · Agent 状态机】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success：有完整 data，无缺失字段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partial：有 data，必须列出 missing_fields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degraded：有 data，需说明缺失或受控错误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failed：data 为空，必有缺失字段与受控错误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来源时间语义：retrieved_at（获取时间）≠ source_updated_at（供应商真实更新时间）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08 多 Agent 编排与任务流程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97A2B"/>
                </a:solidFill>
                <a:latin typeface="Microsoft YaHei"/>
              </a:rPr>
              <a:t>📊 本页插入【图 3 · 旅行规划任务实现流程】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校验 → 生成 request_id=trace_id → 天气 → 路线 → 住宿 → 餐饮 → 汇总 → 前端渲染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单 Agent 异常由 _safe_agent_call 转为受控 failed，其余 Agent 继续执行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天气结果（含降级）作为路线 Agent 输入 —— 按天气风险调整行程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输出 TravelPlanDocument：状态 + 来源 + 待核验 + Markdown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五类专业 Agent 的职责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WeatherAgent —— 地理编码 + 3 日预报；风险等级 / 出行提醒 / 室内偏好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RouteAgent —— 往返驾车预估；按天气风险选景区；每日 上午/下午/傍晚 · 120 分钟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LodgingAgent —— 推荐区域住宿 POI；仅位置与筛选建议，无交易字段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FoodAgent —— 上午景区→午餐，傍晚/下午→晚餐；附近 2km 餐饮 POI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SummaryAgent —— 聚合去重 / 定顶层状态 / 确定性模板生成 Markdown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原则：不复用候选、不伪造结果，候选不足时明确列出待补字段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09 文档知识库 · RAG 混合检索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97A2B"/>
                </a:solidFill>
                <a:latin typeface="Microsoft YaHei"/>
              </a:rPr>
              <a:t>📊 本页插入【图 4 · 文档知识库流水线】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入库：上传校验 → 解析（PyMuPDF/python-docx/Qwen-VL OCR）→ 重叠分块 → BGE 向量化 → ChromaDB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检索：查询解析（城市 + 意图）→ 语义检索 + 关键词检索 → RRF 融合 → 可溯源命中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城市硬过滤：避免「语义相近但城市不符」的误命中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一致性：原文在 DocumentStore，Chroma 只存向量；未 ready 不参与检索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每个分块保留 page/section/table/figure 来源定位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10 韧性设计 · 缓存 / 重试 / 熔断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97A2B"/>
                </a:solidFill>
                <a:latin typeface="Microsoft YaHei"/>
              </a:rPr>
              <a:t>📊 本页插入【图 5 · 外部请求韧性流程】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缓存命中 → data_status=cached；上游成功 → realtime + 记录 source_updated_at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仅对连接错误 / 超时 / 429 / 5xx 做最多 3 次指数退避重试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熔断：连续失败达阈值打开 60s，generation token 控制半开探测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TTL 按数据变化频率：地理编码 7 天 / 路线 15 分钟 / POI 1 小时 / 天气 30 分钟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如实说明已知限制：3 日预报窗口 / 顺序执行无总 deadline / 生产化治理未实现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11 安全边界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密钥与域名：密钥仅后端读取；base_url 固定校验，客户端无法覆盖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严格模型：extra=forbid 拒绝未声明字段；frozen 不可变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XSS 防护：marked + DOMPurify 净化；FORBID_TAGS / FORBID_ATTR 禁脚本与事件属性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供应链：前端依赖本地 vendor + SHA-256，不用 CDN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通用错误：不泄露堆栈、参数与供应商原始响应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上传安全：MIME/后缀/签名校验；文件名安全基名；MinerU 仅 HTTPS 白名单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12 前端与交互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首页工作台：规划表单 + 数字人讲解占位 + 知识检索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任务结果：左行程正文 / 右待核验事项、来源与更新时间、降级说明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文档库：上传、处理状态、分块浏览、删除管理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数据看板：赞踩反馈与好评率（当前为界面原型 · 演示数据）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响应式：768px 断点双栏转单栏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可信交互：每条建议伴随「待核验 / 来源时间」元信息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13 测试与质量保障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respx 拦截 httpx：模拟成功 / 超时 / 429 / 5xx，零真实调用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合同校验测试：验证「为何需要此行为」而非仅「返回了什么」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覆盖：模型 / 配置 / 客户端 / 韧性 / 四类 Agent / 汇总 / 编排 / API / 前端资源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文档管线：分块边界、来源定位、批量上传状态、删除补偿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质量门禁：文档测试 + 全量测试 + git diff --check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14 项目亮点与创新点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强类型数据合同驱动 —— 字段漂移 / 状态不一致消灭在类型层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确定性事实 + 受控表达 —— 从架构上防 LLM 幻觉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四态状态机 + 来源时间语义 —— 数据诚实可核验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韧性三件套 + 降级贯穿 —— 单点故障不拖垮整体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可溯源混合检索 RAG —— 城市硬过滤 + RRF 融合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领域边界清晰 —— 非交易边界从模型层强制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15 当前局限与后续规划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近期迭代：DeepSeek 表达润色接入；3 日窗口之外支持；扫描件 OCR / MinerU 落地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性能优化：single-flight 防击穿；连接池复用；缓存淘汰；请求级总超时预算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生产化：认证 / 限流 / 租户隔离；集中式密钥；审计日志与监控告警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体验扩展：数字人讲解；知识库反馈闭环；多文档对比问答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16 讲解节奏（10–15 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0:00–1:30 背景与痛点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1:30–3:00 目标范围 + 功能模块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3:00–5:00 技术栈选型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5:00–7:30 架构 + 数据合同 + 状态机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7:30–10:00 编排流程 + 五类 Agent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10:00–11:30 RAG + 韧性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11:30–12:30 安全 + 前端 + 测试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12:30–14:00 亮点 + 局限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14:00–15:00 总结致谢 + 提问缓冲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17 答辩题库速览（附录）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系统设计：为什么多 Agent 顺序编排？为什么不用 LLM 做事实？状态机怎么设计？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技术细节：熔断半开如何实现？TTL 为什么分粒度？哪些错误不重试？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RAG：为什么混合检索 + 城市硬过滤？Chroma 与 DocumentStore 为何分开？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安全：XSS 防护链路？密钥为什么不进前端？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工程：如何零费用测试外部 API？多租户要改哪些？最大难点？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完整 19 题参考回答见《答辩讲解.md》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E6F66"/>
                </a:solidFill>
                <a:latin typeface="Microsoft YaHei"/>
              </a:rPr>
              <a:t>18 结语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事实靠确定性代码保证正确，表达用受控 LLM 增强可读性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强类型数据合同 + 多 Agent 编排 + RAG 知识库 + 韧性 + 安全边界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当前是可核验、可测试、安全边界的 MVP</a:t>
            </a:r>
          </a:p>
          <a:p>
            <a:pPr lvl="1">
              <a:spcAft>
                <a:spcPts val="200"/>
              </a:spcAft>
            </a:pPr>
            <a:r>
              <a:rPr sz="1800" b="0">
                <a:solidFill>
                  <a:srgbClr val="57645F"/>
                </a:solidFill>
                <a:latin typeface="Microsoft YaHei"/>
              </a:rPr>
              <a:t>后续：表达润色 / 生产化治理 / 体验扩展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D2B28"/>
                </a:solidFill>
                <a:latin typeface="Microsoft YaHei"/>
              </a:rPr>
              <a:t>以上讲解完毕，欢迎各位老师提问。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